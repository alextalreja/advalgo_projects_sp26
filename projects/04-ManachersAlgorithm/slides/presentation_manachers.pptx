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0417DA-E05D-4A06-BD93-DA029B5533FF}">
  <a:tblStyle styleId="{FB0417DA-E05D-4A06-BD93-DA029B5533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Himani 30s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75ddf957d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75ddf957d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Ted (60s)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75ddf957d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d75ddf957d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Ted (90s)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75ddf957d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75ddf957d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75ddf957d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d75ddf957d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75ddf957d_3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d75ddf957d_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75ddf957d_3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75ddf957d_3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75ddf957d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75ddf957d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75ddf957d_3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d75ddf957d_3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75ddf957d_3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d75ddf957d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75ddf957d_3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d75ddf957d_3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75ddf957d_3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d75ddf957d_3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75ddf957d_3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d75ddf957d_3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d75ddf957d_3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d75ddf957d_3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75ddf957d_3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d75ddf957d_3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75ddf957d_3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d75ddf957d_3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75ddf957d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d75ddf957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Masato 2min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75ddf957d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d75ddf957d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d75ddf957d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d75ddf957d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d75ddf957d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d75ddf957d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d75ddf957d_2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d75ddf957d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75ddf957d_2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d75ddf957d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d75ddf957d_2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d75ddf957d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d75ddf957d_2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d75ddf957d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d75ddf957d_2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d75ddf957d_2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Masato 60s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d75ddf957d_2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d75ddf957d_2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d75ddf957d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d75ddf957d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2.5 minute walkthrough of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//0 1 2 3 3 2 1 0 0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d75ddf957d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d75ddf957d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minute 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d75ddf957d_5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d75ddf957d_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Himani 30s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53" name="Google Shape;53;p2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2"/>
          <p:cNvGrpSpPr/>
          <p:nvPr/>
        </p:nvGrpSpPr>
        <p:grpSpPr>
          <a:xfrm>
            <a:off x="0" y="0"/>
            <a:ext cx="1728788" cy="5143500"/>
            <a:chOff x="0" y="0"/>
            <a:chExt cx="2305051" cy="6858001"/>
          </a:xfrm>
        </p:grpSpPr>
        <p:sp>
          <p:nvSpPr>
            <p:cNvPr id="55" name="Google Shape;55;p2"/>
            <p:cNvSpPr/>
            <p:nvPr/>
          </p:nvSpPr>
          <p:spPr>
            <a:xfrm>
              <a:off x="1209675" y="4763"/>
              <a:ext cx="23700" cy="21813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14338" y="9525"/>
              <a:ext cx="28500" cy="44814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1" name="Google Shape;61;p2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2" name="Google Shape;62;p2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4" name="Google Shape;64;p2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5" name="Google Shape;65;p2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8" name="Google Shape;68;p2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0" name="Google Shape;70;p2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3" name="Google Shape;73;p2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6" name="Google Shape;76;p2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8" name="Google Shape;78;p2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0" name="Google Shape;80;p2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2" name="Google Shape;82;p2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42938" y="6610350"/>
              <a:ext cx="23700" cy="2430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6" name="Google Shape;86;p2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7" name="Google Shape;87;p2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9" name="Google Shape;89;p2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0" name="Google Shape;90;p2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2" name="Google Shape;92;p2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4" name="Google Shape;94;p2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228725" y="4662488"/>
              <a:ext cx="23700" cy="21813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7" name="Google Shape;97;p2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9" name="Google Shape;99;p2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2" name="Google Shape;102;p2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3" name="Google Shape;103;p2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6" name="Google Shape;106;p2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8" name="Google Shape;108;p2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2"/>
          <p:cNvSpPr txBox="1"/>
          <p:nvPr>
            <p:ph type="ctrTitle"/>
          </p:nvPr>
        </p:nvSpPr>
        <p:spPr>
          <a:xfrm>
            <a:off x="1407318" y="841772"/>
            <a:ext cx="65937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"/>
          <p:cNvSpPr txBox="1"/>
          <p:nvPr>
            <p:ph idx="1" type="subTitle"/>
          </p:nvPr>
        </p:nvSpPr>
        <p:spPr>
          <a:xfrm>
            <a:off x="1407318" y="2701529"/>
            <a:ext cx="65937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900"/>
              <a:buNone/>
              <a:defRPr sz="15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400"/>
            </a:lvl3pPr>
            <a:lvl4pPr lvl="3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4pPr>
            <a:lvl5pPr lvl="4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5pPr>
            <a:lvl6pPr lvl="5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6pPr>
            <a:lvl7pPr lvl="6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7pPr>
            <a:lvl8pPr lvl="7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8pPr>
            <a:lvl9pPr lvl="8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9pPr>
          </a:lstStyle>
          <a:p/>
        </p:txBody>
      </p:sp>
      <p:sp>
        <p:nvSpPr>
          <p:cNvPr id="111" name="Google Shape;111;p2"/>
          <p:cNvSpPr txBox="1"/>
          <p:nvPr>
            <p:ph idx="10" type="dt"/>
          </p:nvPr>
        </p:nvSpPr>
        <p:spPr>
          <a:xfrm>
            <a:off x="5308133" y="405765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"/>
          <p:cNvSpPr txBox="1"/>
          <p:nvPr>
            <p:ph idx="11" type="ftr"/>
          </p:nvPr>
        </p:nvSpPr>
        <p:spPr>
          <a:xfrm>
            <a:off x="1407318" y="4057651"/>
            <a:ext cx="384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"/>
          <p:cNvSpPr txBox="1"/>
          <p:nvPr>
            <p:ph idx="12" type="sldNum"/>
          </p:nvPr>
        </p:nvSpPr>
        <p:spPr>
          <a:xfrm>
            <a:off x="7422683" y="4057649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856058" y="1064420"/>
            <a:ext cx="7429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856058" y="3318271"/>
            <a:ext cx="74295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4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3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3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856059" y="1687115"/>
            <a:ext cx="74295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1pPr>
            <a:lvl2pPr indent="-3365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2pPr>
            <a:lvl3pPr indent="-33655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3pPr>
            <a:lvl4pPr indent="-33655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4pPr>
            <a:lvl5pPr indent="-33655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5pPr>
            <a:lvl6pPr indent="-33655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6pPr>
            <a:lvl7pPr indent="-33655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7pPr>
            <a:lvl8pPr indent="-33655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8pPr>
            <a:lvl9pPr indent="-33655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9pPr>
          </a:lstStyle>
          <a:p/>
        </p:txBody>
      </p:sp>
      <p:sp>
        <p:nvSpPr>
          <p:cNvPr id="123" name="Google Shape;123;p4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4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4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856058" y="1687114"/>
            <a:ext cx="36588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1pPr>
            <a:lvl2pPr indent="-3365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2pPr>
            <a:lvl3pPr indent="-33655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3pPr>
            <a:lvl4pPr indent="-33655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4pPr>
            <a:lvl5pPr indent="-33655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5pPr>
            <a:lvl6pPr indent="-33655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6pPr>
            <a:lvl7pPr indent="-33655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7pPr>
            <a:lvl8pPr indent="-33655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8pPr>
            <a:lvl9pPr indent="-33655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9pPr>
          </a:lstStyle>
          <a:p/>
        </p:txBody>
      </p:sp>
      <p:sp>
        <p:nvSpPr>
          <p:cNvPr id="129" name="Google Shape;129;p5"/>
          <p:cNvSpPr txBox="1"/>
          <p:nvPr>
            <p:ph idx="2" type="body"/>
          </p:nvPr>
        </p:nvSpPr>
        <p:spPr>
          <a:xfrm>
            <a:off x="4629150" y="1687114"/>
            <a:ext cx="36564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1pPr>
            <a:lvl2pPr indent="-3365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2pPr>
            <a:lvl3pPr indent="-33655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3pPr>
            <a:lvl4pPr indent="-33655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4pPr>
            <a:lvl5pPr indent="-33655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5pPr>
            <a:lvl6pPr indent="-33655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6pPr>
            <a:lvl7pPr indent="-33655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7pPr>
            <a:lvl8pPr indent="-33655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8pPr>
            <a:lvl9pPr indent="-33655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9pPr>
          </a:lstStyle>
          <a:p/>
        </p:txBody>
      </p:sp>
      <p:sp>
        <p:nvSpPr>
          <p:cNvPr id="130" name="Google Shape;130;p5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5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5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856058" y="464344"/>
            <a:ext cx="74295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1027514" y="1687115"/>
            <a:ext cx="3487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4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136" name="Google Shape;136;p6"/>
          <p:cNvSpPr txBox="1"/>
          <p:nvPr>
            <p:ph idx="2" type="body"/>
          </p:nvPr>
        </p:nvSpPr>
        <p:spPr>
          <a:xfrm>
            <a:off x="856058" y="2305048"/>
            <a:ext cx="3658800" cy="20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1pPr>
            <a:lvl2pPr indent="-3365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2pPr>
            <a:lvl3pPr indent="-33655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3pPr>
            <a:lvl4pPr indent="-33655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4pPr>
            <a:lvl5pPr indent="-33655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5pPr>
            <a:lvl6pPr indent="-33655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6pPr>
            <a:lvl7pPr indent="-33655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7pPr>
            <a:lvl8pPr indent="-33655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8pPr>
            <a:lvl9pPr indent="-33655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9pPr>
          </a:lstStyle>
          <a:p/>
        </p:txBody>
      </p:sp>
      <p:sp>
        <p:nvSpPr>
          <p:cNvPr id="137" name="Google Shape;137;p6"/>
          <p:cNvSpPr txBox="1"/>
          <p:nvPr>
            <p:ph idx="3" type="body"/>
          </p:nvPr>
        </p:nvSpPr>
        <p:spPr>
          <a:xfrm>
            <a:off x="4800606" y="1687114"/>
            <a:ext cx="34851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4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138" name="Google Shape;138;p6"/>
          <p:cNvSpPr txBox="1"/>
          <p:nvPr>
            <p:ph idx="4" type="body"/>
          </p:nvPr>
        </p:nvSpPr>
        <p:spPr>
          <a:xfrm>
            <a:off x="4629150" y="2305048"/>
            <a:ext cx="3656400" cy="20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1pPr>
            <a:lvl2pPr indent="-3365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2pPr>
            <a:lvl3pPr indent="-33655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3pPr>
            <a:lvl4pPr indent="-33655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4pPr>
            <a:lvl5pPr indent="-33655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5pPr>
            <a:lvl6pPr indent="-33655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6pPr>
            <a:lvl7pPr indent="-33655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7pPr>
            <a:lvl8pPr indent="-33655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8pPr>
            <a:lvl9pPr indent="-33655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9pPr>
          </a:lstStyle>
          <a:p/>
        </p:txBody>
      </p:sp>
      <p:sp>
        <p:nvSpPr>
          <p:cNvPr id="139" name="Google Shape;139;p6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6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6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7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7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7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8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8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860029" y="457201"/>
            <a:ext cx="2892000" cy="12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3867150" y="444499"/>
            <a:ext cx="4418400" cy="3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1pPr>
            <a:lvl2pPr indent="-3365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2pPr>
            <a:lvl3pPr indent="-33655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3pPr>
            <a:lvl4pPr indent="-33655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4pPr>
            <a:lvl5pPr indent="-33655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5pPr>
            <a:lvl6pPr indent="-33655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6pPr>
            <a:lvl7pPr indent="-33655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7pPr>
            <a:lvl8pPr indent="-33655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8pPr>
            <a:lvl9pPr indent="-33655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9pPr>
          </a:lstStyle>
          <a:p/>
        </p:txBody>
      </p:sp>
      <p:sp>
        <p:nvSpPr>
          <p:cNvPr id="154" name="Google Shape;154;p9"/>
          <p:cNvSpPr txBox="1"/>
          <p:nvPr>
            <p:ph idx="2" type="body"/>
          </p:nvPr>
        </p:nvSpPr>
        <p:spPr>
          <a:xfrm>
            <a:off x="860029" y="1687114"/>
            <a:ext cx="28920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1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9pPr>
          </a:lstStyle>
          <a:p/>
        </p:txBody>
      </p:sp>
      <p:sp>
        <p:nvSpPr>
          <p:cNvPr id="155" name="Google Shape;155;p9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9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9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856060" y="457200"/>
            <a:ext cx="4450800" cy="12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10"/>
          <p:cNvSpPr/>
          <p:nvPr>
            <p:ph idx="2" type="pic"/>
          </p:nvPr>
        </p:nvSpPr>
        <p:spPr>
          <a:xfrm>
            <a:off x="5535541" y="457201"/>
            <a:ext cx="2750100" cy="3886200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430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6675" rotWithShape="0" algn="t" dir="5400000" dist="28575">
              <a:srgbClr val="000000">
                <a:alpha val="40000"/>
              </a:srgbClr>
            </a:outerShdw>
          </a:effectLst>
        </p:spPr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856058" y="1687114"/>
            <a:ext cx="44508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1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9pPr>
          </a:lstStyle>
          <a:p/>
        </p:txBody>
      </p:sp>
      <p:sp>
        <p:nvSpPr>
          <p:cNvPr id="162" name="Google Shape;162;p10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3" name="Google Shape;163;p10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10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856057" y="3228498"/>
            <a:ext cx="74343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11"/>
          <p:cNvSpPr/>
          <p:nvPr>
            <p:ph idx="2" type="pic"/>
          </p:nvPr>
        </p:nvSpPr>
        <p:spPr>
          <a:xfrm>
            <a:off x="856058" y="454819"/>
            <a:ext cx="7434300" cy="2474700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430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6675" rotWithShape="0" algn="t" dir="5400000" dist="28575">
              <a:srgbClr val="000000">
                <a:alpha val="40000"/>
              </a:srgbClr>
            </a:outerShdw>
          </a:effectLst>
        </p:spPr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856023" y="3843015"/>
            <a:ext cx="7433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1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9pPr>
          </a:lstStyle>
          <a:p/>
        </p:txBody>
      </p:sp>
      <p:sp>
        <p:nvSpPr>
          <p:cNvPr id="169" name="Google Shape;169;p11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11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11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856092" y="457200"/>
            <a:ext cx="74295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856057" y="3314699"/>
            <a:ext cx="742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1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9pPr>
          </a:lstStyle>
          <a:p/>
        </p:txBody>
      </p:sp>
      <p:sp>
        <p:nvSpPr>
          <p:cNvPr id="175" name="Google Shape;175;p12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12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12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1084659" y="457199"/>
            <a:ext cx="6977100" cy="20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1290483" y="2524168"/>
            <a:ext cx="656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100"/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1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9pPr>
          </a:lstStyle>
          <a:p/>
        </p:txBody>
      </p:sp>
      <p:sp>
        <p:nvSpPr>
          <p:cNvPr id="181" name="Google Shape;181;p13"/>
          <p:cNvSpPr txBox="1"/>
          <p:nvPr>
            <p:ph idx="2" type="body"/>
          </p:nvPr>
        </p:nvSpPr>
        <p:spPr>
          <a:xfrm>
            <a:off x="856058" y="3232439"/>
            <a:ext cx="74295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1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9pPr>
          </a:lstStyle>
          <a:p/>
        </p:txBody>
      </p:sp>
      <p:sp>
        <p:nvSpPr>
          <p:cNvPr id="182" name="Google Shape;182;p13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13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13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677634" y="549296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</a:pPr>
            <a:r>
              <a:rPr b="0" lang="en" sz="6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 sz="1100"/>
          </a:p>
        </p:txBody>
      </p:sp>
      <p:sp>
        <p:nvSpPr>
          <p:cNvPr id="186" name="Google Shape;186;p13"/>
          <p:cNvSpPr txBox="1"/>
          <p:nvPr/>
        </p:nvSpPr>
        <p:spPr>
          <a:xfrm>
            <a:off x="7903028" y="2073729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</a:pPr>
            <a:r>
              <a:rPr b="0" lang="en" sz="6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 sz="1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856057" y="1600531"/>
            <a:ext cx="7429500" cy="18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856023" y="3493241"/>
            <a:ext cx="74283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1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9pPr>
          </a:lstStyle>
          <a:p/>
        </p:txBody>
      </p:sp>
      <p:sp>
        <p:nvSpPr>
          <p:cNvPr id="190" name="Google Shape;190;p14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14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14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856060" y="457200"/>
            <a:ext cx="74295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5" name="Google Shape;195;p15"/>
          <p:cNvSpPr txBox="1"/>
          <p:nvPr>
            <p:ph idx="1" type="body"/>
          </p:nvPr>
        </p:nvSpPr>
        <p:spPr>
          <a:xfrm>
            <a:off x="856058" y="2005847"/>
            <a:ext cx="2397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4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196" name="Google Shape;196;p15"/>
          <p:cNvSpPr txBox="1"/>
          <p:nvPr>
            <p:ph idx="2" type="body"/>
          </p:nvPr>
        </p:nvSpPr>
        <p:spPr>
          <a:xfrm>
            <a:off x="845939" y="2520197"/>
            <a:ext cx="2406600" cy="18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100"/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9pPr>
          </a:lstStyle>
          <a:p/>
        </p:txBody>
      </p:sp>
      <p:sp>
        <p:nvSpPr>
          <p:cNvPr id="197" name="Google Shape;197;p15"/>
          <p:cNvSpPr txBox="1"/>
          <p:nvPr>
            <p:ph idx="3" type="body"/>
          </p:nvPr>
        </p:nvSpPr>
        <p:spPr>
          <a:xfrm>
            <a:off x="3386075" y="2008226"/>
            <a:ext cx="2388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4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198" name="Google Shape;198;p15"/>
          <p:cNvSpPr txBox="1"/>
          <p:nvPr>
            <p:ph idx="4" type="body"/>
          </p:nvPr>
        </p:nvSpPr>
        <p:spPr>
          <a:xfrm>
            <a:off x="3378160" y="2522576"/>
            <a:ext cx="2397000" cy="18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100"/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9pPr>
          </a:lstStyle>
          <a:p/>
        </p:txBody>
      </p:sp>
      <p:sp>
        <p:nvSpPr>
          <p:cNvPr id="199" name="Google Shape;199;p15"/>
          <p:cNvSpPr txBox="1"/>
          <p:nvPr>
            <p:ph idx="5" type="body"/>
          </p:nvPr>
        </p:nvSpPr>
        <p:spPr>
          <a:xfrm>
            <a:off x="5889332" y="2005847"/>
            <a:ext cx="2396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4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200" name="Google Shape;200;p15"/>
          <p:cNvSpPr txBox="1"/>
          <p:nvPr>
            <p:ph idx="6" type="body"/>
          </p:nvPr>
        </p:nvSpPr>
        <p:spPr>
          <a:xfrm>
            <a:off x="5889332" y="2520197"/>
            <a:ext cx="2396100" cy="18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100"/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9pPr>
          </a:lstStyle>
          <a:p/>
        </p:txBody>
      </p:sp>
      <p:sp>
        <p:nvSpPr>
          <p:cNvPr id="201" name="Google Shape;201;p15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15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3" name="Google Shape;203;p15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>
            <p:ph type="title"/>
          </p:nvPr>
        </p:nvSpPr>
        <p:spPr>
          <a:xfrm>
            <a:off x="856058" y="457200"/>
            <a:ext cx="74295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6" name="Google Shape;206;p16"/>
          <p:cNvSpPr txBox="1"/>
          <p:nvPr>
            <p:ph idx="1" type="body"/>
          </p:nvPr>
        </p:nvSpPr>
        <p:spPr>
          <a:xfrm>
            <a:off x="856060" y="3303447"/>
            <a:ext cx="2396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5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4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207" name="Google Shape;207;p16"/>
          <p:cNvSpPr/>
          <p:nvPr>
            <p:ph idx="2" type="pic"/>
          </p:nvPr>
        </p:nvSpPr>
        <p:spPr>
          <a:xfrm>
            <a:off x="856060" y="2000249"/>
            <a:ext cx="2396400" cy="1143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430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6675" rotWithShape="0" algn="t" dir="5400000" dist="28575">
              <a:srgbClr val="000000">
                <a:alpha val="40000"/>
              </a:srgbClr>
            </a:outerShdw>
          </a:effectLst>
        </p:spPr>
      </p:sp>
      <p:sp>
        <p:nvSpPr>
          <p:cNvPr id="208" name="Google Shape;208;p16"/>
          <p:cNvSpPr txBox="1"/>
          <p:nvPr>
            <p:ph idx="3" type="body"/>
          </p:nvPr>
        </p:nvSpPr>
        <p:spPr>
          <a:xfrm>
            <a:off x="856060" y="3735643"/>
            <a:ext cx="2396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100"/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9pPr>
          </a:lstStyle>
          <a:p/>
        </p:txBody>
      </p:sp>
      <p:sp>
        <p:nvSpPr>
          <p:cNvPr id="209" name="Google Shape;209;p16"/>
          <p:cNvSpPr txBox="1"/>
          <p:nvPr>
            <p:ph idx="4" type="body"/>
          </p:nvPr>
        </p:nvSpPr>
        <p:spPr>
          <a:xfrm>
            <a:off x="3366790" y="3303447"/>
            <a:ext cx="24003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5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4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210" name="Google Shape;210;p16"/>
          <p:cNvSpPr/>
          <p:nvPr>
            <p:ph idx="5" type="pic"/>
          </p:nvPr>
        </p:nvSpPr>
        <p:spPr>
          <a:xfrm>
            <a:off x="3366790" y="2000249"/>
            <a:ext cx="2399100" cy="1143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430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6675" rotWithShape="0" algn="t" dir="5400000" dist="28575">
              <a:srgbClr val="000000">
                <a:alpha val="40000"/>
              </a:srgbClr>
            </a:outerShdw>
          </a:effectLst>
        </p:spPr>
      </p:sp>
      <p:sp>
        <p:nvSpPr>
          <p:cNvPr id="211" name="Google Shape;211;p16"/>
          <p:cNvSpPr txBox="1"/>
          <p:nvPr>
            <p:ph idx="6" type="body"/>
          </p:nvPr>
        </p:nvSpPr>
        <p:spPr>
          <a:xfrm>
            <a:off x="3365695" y="3735643"/>
            <a:ext cx="24003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100"/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9pPr>
          </a:lstStyle>
          <a:p/>
        </p:txBody>
      </p:sp>
      <p:sp>
        <p:nvSpPr>
          <p:cNvPr id="212" name="Google Shape;212;p16"/>
          <p:cNvSpPr txBox="1"/>
          <p:nvPr>
            <p:ph idx="7" type="body"/>
          </p:nvPr>
        </p:nvSpPr>
        <p:spPr>
          <a:xfrm>
            <a:off x="5889425" y="3303446"/>
            <a:ext cx="2393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5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4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213" name="Google Shape;213;p16"/>
          <p:cNvSpPr/>
          <p:nvPr>
            <p:ph idx="8" type="pic"/>
          </p:nvPr>
        </p:nvSpPr>
        <p:spPr>
          <a:xfrm>
            <a:off x="5889332" y="2000249"/>
            <a:ext cx="2396100" cy="1143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430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6675" rotWithShape="0" algn="t" dir="5400000" dist="28575">
              <a:srgbClr val="000000">
                <a:alpha val="40000"/>
              </a:srgbClr>
            </a:outerShdw>
          </a:effectLst>
        </p:spPr>
      </p:sp>
      <p:sp>
        <p:nvSpPr>
          <p:cNvPr id="214" name="Google Shape;214;p16"/>
          <p:cNvSpPr txBox="1"/>
          <p:nvPr>
            <p:ph idx="9" type="body"/>
          </p:nvPr>
        </p:nvSpPr>
        <p:spPr>
          <a:xfrm>
            <a:off x="5889332" y="3735641"/>
            <a:ext cx="23961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100"/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800"/>
            </a:lvl3pPr>
            <a:lvl4pPr indent="-228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4pPr>
            <a:lvl5pPr indent="-2286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5pPr>
            <a:lvl6pPr indent="-2286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6pPr>
            <a:lvl7pPr indent="-2286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7pPr>
            <a:lvl8pPr indent="-2286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8pPr>
            <a:lvl9pPr indent="-2286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700"/>
            </a:lvl9pPr>
          </a:lstStyle>
          <a:p/>
        </p:txBody>
      </p:sp>
      <p:sp>
        <p:nvSpPr>
          <p:cNvPr id="215" name="Google Shape;215;p16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6" name="Google Shape;216;p16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7" name="Google Shape;217;p16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0" name="Google Shape;220;p17"/>
          <p:cNvSpPr txBox="1"/>
          <p:nvPr>
            <p:ph idx="1" type="body"/>
          </p:nvPr>
        </p:nvSpPr>
        <p:spPr>
          <a:xfrm rot="5400000">
            <a:off x="3242708" y="-699535"/>
            <a:ext cx="2656200" cy="74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1pPr>
            <a:lvl2pPr indent="-3365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2pPr>
            <a:lvl3pPr indent="-33655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3pPr>
            <a:lvl4pPr indent="-33655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4pPr>
            <a:lvl5pPr indent="-33655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5pPr>
            <a:lvl6pPr indent="-33655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6pPr>
            <a:lvl7pPr indent="-33655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7pPr>
            <a:lvl8pPr indent="-33655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8pPr>
            <a:lvl9pPr indent="-33655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17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17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>
            <p:ph type="title"/>
          </p:nvPr>
        </p:nvSpPr>
        <p:spPr>
          <a:xfrm rot="5400000">
            <a:off x="5590508" y="1648349"/>
            <a:ext cx="3886200" cy="15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6" name="Google Shape;226;p18"/>
          <p:cNvSpPr txBox="1"/>
          <p:nvPr>
            <p:ph idx="1" type="body"/>
          </p:nvPr>
        </p:nvSpPr>
        <p:spPr>
          <a:xfrm rot="5400000">
            <a:off x="1818750" y="-505351"/>
            <a:ext cx="3886200" cy="5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1pPr>
            <a:lvl2pPr indent="-33655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2pPr>
            <a:lvl3pPr indent="-33655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3pPr>
            <a:lvl4pPr indent="-33655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4pPr>
            <a:lvl5pPr indent="-33655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5pPr>
            <a:lvl6pPr indent="-33655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6pPr>
            <a:lvl7pPr indent="-33655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7pPr>
            <a:lvl8pPr indent="-33655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8pPr>
            <a:lvl9pPr indent="-33655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/>
            </a:lvl9pPr>
          </a:lstStyle>
          <a:p/>
        </p:txBody>
      </p:sp>
      <p:sp>
        <p:nvSpPr>
          <p:cNvPr id="227" name="Google Shape;227;p18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8" name="Google Shape;228;p18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9" name="Google Shape;229;p18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7;p1"/>
          <p:cNvGrpSpPr/>
          <p:nvPr/>
        </p:nvGrpSpPr>
        <p:grpSpPr>
          <a:xfrm>
            <a:off x="-10716" y="0"/>
            <a:ext cx="9040416" cy="5143500"/>
            <a:chOff x="-14288" y="0"/>
            <a:chExt cx="12053888" cy="6858001"/>
          </a:xfrm>
        </p:grpSpPr>
        <p:grpSp>
          <p:nvGrpSpPr>
            <p:cNvPr id="8" name="Google Shape;8;p1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" name="Google Shape;9;p1"/>
              <p:cNvSpPr/>
              <p:nvPr/>
            </p:nvSpPr>
            <p:spPr>
              <a:xfrm>
                <a:off x="114300" y="4763"/>
                <a:ext cx="23700" cy="21813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" name="Google Shape;10;p1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" name="Google Shape;11;p1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3" name="Google Shape;13;p1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5" name="Google Shape;15;p1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6" name="Google Shape;16;p1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1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9" name="Google Shape;19;p1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" name="Google Shape;20;p1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 cap="flat" cmpd="sng" w="7150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1" name="Google Shape;21;p1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2" name="Google Shape;22;p1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" name="Google Shape;23;p1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4" name="Google Shape;24;p1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1"/>
              <p:cNvSpPr/>
              <p:nvPr/>
            </p:nvSpPr>
            <p:spPr>
              <a:xfrm>
                <a:off x="133350" y="4662488"/>
                <a:ext cx="23700" cy="21813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" name="Google Shape;27;p1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9" name="Google Shape;29;p1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1" name="Google Shape;31;p1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2" name="Google Shape;32;p1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5" name="Google Shape;35;p1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" name="Google Shape;36;p1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37" name="Google Shape;37;p1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8" name="Google Shape;38;p1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1" name="Google Shape;41;p1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3" name="Google Shape;43;p1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5" name="Google Shape;45;p1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11939587" y="6596063"/>
                <a:ext cx="23700" cy="2523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" name="Google Shape;47;p1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b="0" i="0" sz="27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8" name="Google Shape;48;p1"/>
          <p:cNvSpPr txBox="1"/>
          <p:nvPr>
            <p:ph idx="1" type="body"/>
          </p:nvPr>
        </p:nvSpPr>
        <p:spPr>
          <a:xfrm>
            <a:off x="856059" y="1687115"/>
            <a:ext cx="74295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74650" lvl="0" marL="4572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9250" lvl="1" marL="9144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6550" lvl="2" marL="13716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23850" lvl="3" marL="18288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23850" lvl="4" marL="22860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49" name="Google Shape;49;p1"/>
          <p:cNvSpPr txBox="1"/>
          <p:nvPr>
            <p:ph idx="10" type="dt"/>
          </p:nvPr>
        </p:nvSpPr>
        <p:spPr>
          <a:xfrm>
            <a:off x="5592691" y="441245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0" name="Google Shape;50;p1"/>
          <p:cNvSpPr txBox="1"/>
          <p:nvPr>
            <p:ph idx="11" type="ftr"/>
          </p:nvPr>
        </p:nvSpPr>
        <p:spPr>
          <a:xfrm>
            <a:off x="856058" y="4412456"/>
            <a:ext cx="4679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1" name="Google Shape;51;p1"/>
          <p:cNvSpPr txBox="1"/>
          <p:nvPr>
            <p:ph idx="12" type="sldNum"/>
          </p:nvPr>
        </p:nvSpPr>
        <p:spPr>
          <a:xfrm>
            <a:off x="7707241" y="4412456"/>
            <a:ext cx="57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>
            <p:ph type="ctrTitle"/>
          </p:nvPr>
        </p:nvSpPr>
        <p:spPr>
          <a:xfrm>
            <a:off x="1407318" y="841772"/>
            <a:ext cx="65937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Manacher’s Algorithm</a:t>
            </a:r>
            <a:endParaRPr/>
          </a:p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407318" y="2701529"/>
            <a:ext cx="6593700" cy="124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By: </a:t>
            </a:r>
            <a:r>
              <a:rPr lang="en"/>
              <a:t>Himani Mattoo, </a:t>
            </a:r>
            <a:r>
              <a:rPr lang="en"/>
              <a:t>Ted Nyberg, Masato Takedai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241" name="Google Shape;241;p20"/>
          <p:cNvSpPr txBox="1"/>
          <p:nvPr>
            <p:ph idx="1" type="body"/>
          </p:nvPr>
        </p:nvSpPr>
        <p:spPr>
          <a:xfrm>
            <a:off x="856059" y="1687115"/>
            <a:ext cx="7429500" cy="265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Longest palindromic substring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u="sng"/>
              <a:t>Palindrome</a:t>
            </a:r>
            <a:r>
              <a:rPr lang="en"/>
              <a:t>                                              </a:t>
            </a:r>
            <a:r>
              <a:rPr lang="en" u="sng"/>
              <a:t>Non-palindrome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RACECAR                                                 AAAB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ABBA                                                       ABCD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 - O(n^2)</a:t>
            </a:r>
            <a:endParaRPr/>
          </a:p>
        </p:txBody>
      </p:sp>
      <p:sp>
        <p:nvSpPr>
          <p:cNvPr id="247" name="Google Shape;247;p21"/>
          <p:cNvSpPr txBox="1"/>
          <p:nvPr>
            <p:ph idx="1" type="body"/>
          </p:nvPr>
        </p:nvSpPr>
        <p:spPr>
          <a:xfrm>
            <a:off x="857259" y="2640540"/>
            <a:ext cx="7429500" cy="265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Iterate through every half-index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Expand out while the substring is palindromic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Store the longest palindrome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1296425" y="2011025"/>
            <a:ext cx="6012300" cy="4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1296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2519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3742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4965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6188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1451575" y="2011025"/>
            <a:ext cx="58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      A        A       C        A        C       A        D       D       E            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 - O(n^2)</a:t>
            </a:r>
            <a:endParaRPr/>
          </a:p>
        </p:txBody>
      </p:sp>
      <p:sp>
        <p:nvSpPr>
          <p:cNvPr id="260" name="Google Shape;260;p22"/>
          <p:cNvSpPr/>
          <p:nvPr/>
        </p:nvSpPr>
        <p:spPr>
          <a:xfrm>
            <a:off x="1296425" y="2011025"/>
            <a:ext cx="6012300" cy="4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1296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2519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3742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4965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6188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1451575" y="2011025"/>
            <a:ext cx="58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      A        A       C        A        C       A        D       D       E            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67" name="Google Shape;267;p22"/>
          <p:cNvCxnSpPr/>
          <p:nvPr/>
        </p:nvCxnSpPr>
        <p:spPr>
          <a:xfrm>
            <a:off x="1640150" y="1632725"/>
            <a:ext cx="0" cy="27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22"/>
          <p:cNvCxnSpPr/>
          <p:nvPr/>
        </p:nvCxnSpPr>
        <p:spPr>
          <a:xfrm>
            <a:off x="1332575" y="2694875"/>
            <a:ext cx="501900" cy="0"/>
          </a:xfrm>
          <a:prstGeom prst="straightConnector1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22"/>
          <p:cNvSpPr txBox="1"/>
          <p:nvPr/>
        </p:nvSpPr>
        <p:spPr>
          <a:xfrm>
            <a:off x="2049950" y="3623225"/>
            <a:ext cx="481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Longest </a:t>
            </a: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palindrome</a:t>
            </a: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= “A” at s.substring(0,1)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 - O(n^2)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1296425" y="2011025"/>
            <a:ext cx="6012300" cy="4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1296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2519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3742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4965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6188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1451575" y="2011025"/>
            <a:ext cx="58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      A        A       C        A        C       A        D       D       E            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82" name="Google Shape;282;p23"/>
          <p:cNvCxnSpPr/>
          <p:nvPr/>
        </p:nvCxnSpPr>
        <p:spPr>
          <a:xfrm>
            <a:off x="1870625" y="1607650"/>
            <a:ext cx="0" cy="27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" name="Google Shape;283;p23"/>
          <p:cNvCxnSpPr/>
          <p:nvPr/>
        </p:nvCxnSpPr>
        <p:spPr>
          <a:xfrm>
            <a:off x="1332575" y="2686525"/>
            <a:ext cx="1194000" cy="0"/>
          </a:xfrm>
          <a:prstGeom prst="straightConnector1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3"/>
          <p:cNvSpPr txBox="1"/>
          <p:nvPr/>
        </p:nvSpPr>
        <p:spPr>
          <a:xfrm>
            <a:off x="2049950" y="3623225"/>
            <a:ext cx="481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Longest palindrome = “AA” at s.substring(0,2)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 - O(n^2)</a:t>
            </a: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1296425" y="2011025"/>
            <a:ext cx="6012300" cy="4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1296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2519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3742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4965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6188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6" name="Google Shape;296;p24"/>
          <p:cNvSpPr txBox="1"/>
          <p:nvPr/>
        </p:nvSpPr>
        <p:spPr>
          <a:xfrm>
            <a:off x="1451575" y="2011025"/>
            <a:ext cx="58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      A        A       C        A        C       A        D       D       E            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97" name="Google Shape;297;p24"/>
          <p:cNvCxnSpPr/>
          <p:nvPr/>
        </p:nvCxnSpPr>
        <p:spPr>
          <a:xfrm>
            <a:off x="2192125" y="1653863"/>
            <a:ext cx="0" cy="27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24"/>
          <p:cNvCxnSpPr/>
          <p:nvPr/>
        </p:nvCxnSpPr>
        <p:spPr>
          <a:xfrm>
            <a:off x="1941175" y="2728325"/>
            <a:ext cx="501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24"/>
          <p:cNvSpPr txBox="1"/>
          <p:nvPr/>
        </p:nvSpPr>
        <p:spPr>
          <a:xfrm>
            <a:off x="2049950" y="3623225"/>
            <a:ext cx="481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Longest palindrome = “AA” at s.substring(0,2)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 - O(n^2)</a:t>
            </a:r>
            <a:endParaRPr/>
          </a:p>
        </p:txBody>
      </p:sp>
      <p:sp>
        <p:nvSpPr>
          <p:cNvPr id="305" name="Google Shape;305;p25"/>
          <p:cNvSpPr/>
          <p:nvPr/>
        </p:nvSpPr>
        <p:spPr>
          <a:xfrm>
            <a:off x="1296425" y="2011025"/>
            <a:ext cx="6012300" cy="4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1296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2519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3742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4965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6188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1" name="Google Shape;311;p25"/>
          <p:cNvSpPr txBox="1"/>
          <p:nvPr/>
        </p:nvSpPr>
        <p:spPr>
          <a:xfrm>
            <a:off x="1451575" y="2011025"/>
            <a:ext cx="58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      A        A       C        A        C       A        D       D       E            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312" name="Google Shape;312;p25"/>
          <p:cNvCxnSpPr/>
          <p:nvPr/>
        </p:nvCxnSpPr>
        <p:spPr>
          <a:xfrm>
            <a:off x="2175425" y="1653863"/>
            <a:ext cx="0" cy="27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25"/>
          <p:cNvCxnSpPr/>
          <p:nvPr/>
        </p:nvCxnSpPr>
        <p:spPr>
          <a:xfrm flipH="1" rot="10800000">
            <a:off x="1332575" y="2686475"/>
            <a:ext cx="1771200" cy="8400"/>
          </a:xfrm>
          <a:prstGeom prst="straightConnector1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" name="Google Shape;314;p25"/>
          <p:cNvSpPr txBox="1"/>
          <p:nvPr/>
        </p:nvSpPr>
        <p:spPr>
          <a:xfrm>
            <a:off x="2049950" y="3623225"/>
            <a:ext cx="481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Longest palindrome = “AAA” at s.substring(0,3)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 - O(n^2)</a:t>
            </a: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1296425" y="2011025"/>
            <a:ext cx="6012300" cy="4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1296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2519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3742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4965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6188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1451575" y="2011025"/>
            <a:ext cx="58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      A        A       C        A        C       A        D       D       E            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327" name="Google Shape;327;p26"/>
          <p:cNvCxnSpPr/>
          <p:nvPr/>
        </p:nvCxnSpPr>
        <p:spPr>
          <a:xfrm>
            <a:off x="2519425" y="1653850"/>
            <a:ext cx="0" cy="27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" name="Google Shape;328;p26"/>
          <p:cNvCxnSpPr/>
          <p:nvPr/>
        </p:nvCxnSpPr>
        <p:spPr>
          <a:xfrm flipH="1" rot="10800000">
            <a:off x="1882700" y="2686475"/>
            <a:ext cx="1221000" cy="84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26"/>
          <p:cNvSpPr txBox="1"/>
          <p:nvPr/>
        </p:nvSpPr>
        <p:spPr>
          <a:xfrm>
            <a:off x="2049950" y="3623225"/>
            <a:ext cx="481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Longest palindrome = “AAA” at s.substring(0,3)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 - O(n^2)</a:t>
            </a:r>
            <a:endParaRPr/>
          </a:p>
        </p:txBody>
      </p:sp>
      <p:sp>
        <p:nvSpPr>
          <p:cNvPr id="335" name="Google Shape;335;p27"/>
          <p:cNvSpPr/>
          <p:nvPr/>
        </p:nvSpPr>
        <p:spPr>
          <a:xfrm>
            <a:off x="1296425" y="2011025"/>
            <a:ext cx="6012300" cy="4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6" name="Google Shape;336;p27"/>
          <p:cNvSpPr/>
          <p:nvPr/>
        </p:nvSpPr>
        <p:spPr>
          <a:xfrm>
            <a:off x="1296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2519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3742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4965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0" name="Google Shape;340;p27"/>
          <p:cNvSpPr/>
          <p:nvPr/>
        </p:nvSpPr>
        <p:spPr>
          <a:xfrm>
            <a:off x="6188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1" name="Google Shape;341;p27"/>
          <p:cNvSpPr txBox="1"/>
          <p:nvPr/>
        </p:nvSpPr>
        <p:spPr>
          <a:xfrm>
            <a:off x="1451575" y="2011025"/>
            <a:ext cx="58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      A        A       C        A        C       A        D       D       E            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342" name="Google Shape;342;p27"/>
          <p:cNvCxnSpPr/>
          <p:nvPr/>
        </p:nvCxnSpPr>
        <p:spPr>
          <a:xfrm>
            <a:off x="2519425" y="1653850"/>
            <a:ext cx="0" cy="27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27"/>
          <p:cNvCxnSpPr/>
          <p:nvPr/>
        </p:nvCxnSpPr>
        <p:spPr>
          <a:xfrm flipH="1" rot="10800000">
            <a:off x="1347450" y="2703200"/>
            <a:ext cx="2366700" cy="8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27"/>
          <p:cNvSpPr txBox="1"/>
          <p:nvPr/>
        </p:nvSpPr>
        <p:spPr>
          <a:xfrm>
            <a:off x="2049950" y="3623225"/>
            <a:ext cx="481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Longest palindrome = “AAA” at s.substring(0,3)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8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 - O(n^2)</a:t>
            </a:r>
            <a:endParaRPr/>
          </a:p>
        </p:txBody>
      </p:sp>
      <p:sp>
        <p:nvSpPr>
          <p:cNvPr id="350" name="Google Shape;350;p28"/>
          <p:cNvSpPr/>
          <p:nvPr/>
        </p:nvSpPr>
        <p:spPr>
          <a:xfrm>
            <a:off x="1296425" y="2011025"/>
            <a:ext cx="6012300" cy="4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1296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2519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3742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4965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6188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6" name="Google Shape;356;p28"/>
          <p:cNvSpPr txBox="1"/>
          <p:nvPr/>
        </p:nvSpPr>
        <p:spPr>
          <a:xfrm>
            <a:off x="1451575" y="2011025"/>
            <a:ext cx="58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      A        A       C        A        C       A        D       D       E            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357" name="Google Shape;357;p28"/>
          <p:cNvCxnSpPr/>
          <p:nvPr/>
        </p:nvCxnSpPr>
        <p:spPr>
          <a:xfrm>
            <a:off x="2806525" y="1653850"/>
            <a:ext cx="0" cy="27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28"/>
          <p:cNvCxnSpPr/>
          <p:nvPr/>
        </p:nvCxnSpPr>
        <p:spPr>
          <a:xfrm>
            <a:off x="2560125" y="2686525"/>
            <a:ext cx="5436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28"/>
          <p:cNvSpPr txBox="1"/>
          <p:nvPr/>
        </p:nvSpPr>
        <p:spPr>
          <a:xfrm>
            <a:off x="2049950" y="3623225"/>
            <a:ext cx="481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Longest palindrome = “AAA” at s.substring(0,3)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9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 - O(n^2)</a:t>
            </a:r>
            <a:endParaRPr/>
          </a:p>
        </p:txBody>
      </p:sp>
      <p:sp>
        <p:nvSpPr>
          <p:cNvPr id="365" name="Google Shape;365;p29"/>
          <p:cNvSpPr/>
          <p:nvPr/>
        </p:nvSpPr>
        <p:spPr>
          <a:xfrm>
            <a:off x="1296425" y="2011025"/>
            <a:ext cx="6012300" cy="4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1296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2519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3742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4965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6188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1" name="Google Shape;371;p29"/>
          <p:cNvSpPr txBox="1"/>
          <p:nvPr/>
        </p:nvSpPr>
        <p:spPr>
          <a:xfrm>
            <a:off x="1451575" y="2011025"/>
            <a:ext cx="58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      A        A       C        A        C       A        D       D       E            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372" name="Google Shape;372;p29"/>
          <p:cNvCxnSpPr/>
          <p:nvPr/>
        </p:nvCxnSpPr>
        <p:spPr>
          <a:xfrm>
            <a:off x="2806525" y="1653850"/>
            <a:ext cx="0" cy="27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29"/>
          <p:cNvCxnSpPr/>
          <p:nvPr/>
        </p:nvCxnSpPr>
        <p:spPr>
          <a:xfrm flipH="1" rot="10800000">
            <a:off x="1899425" y="2694850"/>
            <a:ext cx="1823100" cy="8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29"/>
          <p:cNvSpPr txBox="1"/>
          <p:nvPr/>
        </p:nvSpPr>
        <p:spPr>
          <a:xfrm>
            <a:off x="2049950" y="3623225"/>
            <a:ext cx="481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Longest palindrome = “AAA” at s.substring(0,3)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0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 - O(n^2)</a:t>
            </a:r>
            <a:endParaRPr/>
          </a:p>
        </p:txBody>
      </p:sp>
      <p:sp>
        <p:nvSpPr>
          <p:cNvPr id="380" name="Google Shape;380;p30"/>
          <p:cNvSpPr/>
          <p:nvPr/>
        </p:nvSpPr>
        <p:spPr>
          <a:xfrm>
            <a:off x="1296425" y="2011025"/>
            <a:ext cx="6012300" cy="4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1296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2" name="Google Shape;382;p30"/>
          <p:cNvSpPr/>
          <p:nvPr/>
        </p:nvSpPr>
        <p:spPr>
          <a:xfrm>
            <a:off x="2519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3" name="Google Shape;383;p30"/>
          <p:cNvSpPr/>
          <p:nvPr/>
        </p:nvSpPr>
        <p:spPr>
          <a:xfrm>
            <a:off x="3742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4" name="Google Shape;384;p30"/>
          <p:cNvSpPr/>
          <p:nvPr/>
        </p:nvSpPr>
        <p:spPr>
          <a:xfrm>
            <a:off x="4965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5" name="Google Shape;385;p30"/>
          <p:cNvSpPr/>
          <p:nvPr/>
        </p:nvSpPr>
        <p:spPr>
          <a:xfrm>
            <a:off x="6188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6" name="Google Shape;386;p30"/>
          <p:cNvSpPr txBox="1"/>
          <p:nvPr/>
        </p:nvSpPr>
        <p:spPr>
          <a:xfrm>
            <a:off x="1451575" y="2011025"/>
            <a:ext cx="58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      A        A       C        A        C       A        D       D       E            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387" name="Google Shape;387;p30"/>
          <p:cNvCxnSpPr/>
          <p:nvPr/>
        </p:nvCxnSpPr>
        <p:spPr>
          <a:xfrm>
            <a:off x="3093625" y="1653850"/>
            <a:ext cx="0" cy="27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30"/>
          <p:cNvCxnSpPr/>
          <p:nvPr/>
        </p:nvCxnSpPr>
        <p:spPr>
          <a:xfrm flipH="1" rot="10800000">
            <a:off x="2543400" y="2686475"/>
            <a:ext cx="1199100" cy="8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30"/>
          <p:cNvSpPr txBox="1"/>
          <p:nvPr/>
        </p:nvSpPr>
        <p:spPr>
          <a:xfrm>
            <a:off x="2049950" y="3623225"/>
            <a:ext cx="481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Longest palindrome = “AAA” at s.substring(0,3)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1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 - O(n^2)</a:t>
            </a:r>
            <a:endParaRPr/>
          </a:p>
        </p:txBody>
      </p:sp>
      <p:sp>
        <p:nvSpPr>
          <p:cNvPr id="395" name="Google Shape;395;p31"/>
          <p:cNvSpPr/>
          <p:nvPr/>
        </p:nvSpPr>
        <p:spPr>
          <a:xfrm>
            <a:off x="1296425" y="2011025"/>
            <a:ext cx="6012300" cy="4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6" name="Google Shape;396;p31"/>
          <p:cNvSpPr/>
          <p:nvPr/>
        </p:nvSpPr>
        <p:spPr>
          <a:xfrm>
            <a:off x="1296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7" name="Google Shape;397;p31"/>
          <p:cNvSpPr/>
          <p:nvPr/>
        </p:nvSpPr>
        <p:spPr>
          <a:xfrm>
            <a:off x="2519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8" name="Google Shape;398;p31"/>
          <p:cNvSpPr/>
          <p:nvPr/>
        </p:nvSpPr>
        <p:spPr>
          <a:xfrm>
            <a:off x="3742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9" name="Google Shape;399;p31"/>
          <p:cNvSpPr/>
          <p:nvPr/>
        </p:nvSpPr>
        <p:spPr>
          <a:xfrm>
            <a:off x="4965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0" name="Google Shape;400;p31"/>
          <p:cNvSpPr/>
          <p:nvPr/>
        </p:nvSpPr>
        <p:spPr>
          <a:xfrm>
            <a:off x="6188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1" name="Google Shape;401;p31"/>
          <p:cNvSpPr txBox="1"/>
          <p:nvPr/>
        </p:nvSpPr>
        <p:spPr>
          <a:xfrm>
            <a:off x="1451575" y="2011025"/>
            <a:ext cx="58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      A        A       C        A        C       A        D       D       E            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402" name="Google Shape;402;p31"/>
          <p:cNvCxnSpPr/>
          <p:nvPr/>
        </p:nvCxnSpPr>
        <p:spPr>
          <a:xfrm>
            <a:off x="3411450" y="1653863"/>
            <a:ext cx="0" cy="27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31"/>
          <p:cNvCxnSpPr/>
          <p:nvPr/>
        </p:nvCxnSpPr>
        <p:spPr>
          <a:xfrm>
            <a:off x="3112125" y="2678150"/>
            <a:ext cx="630300" cy="8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31"/>
          <p:cNvSpPr txBox="1"/>
          <p:nvPr/>
        </p:nvSpPr>
        <p:spPr>
          <a:xfrm>
            <a:off x="2049950" y="3623225"/>
            <a:ext cx="481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Longest palindrome = “AAA” at s.substring(0,3)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2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 - O(n^2)</a:t>
            </a:r>
            <a:endParaRPr/>
          </a:p>
        </p:txBody>
      </p:sp>
      <p:sp>
        <p:nvSpPr>
          <p:cNvPr id="410" name="Google Shape;410;p32"/>
          <p:cNvSpPr/>
          <p:nvPr/>
        </p:nvSpPr>
        <p:spPr>
          <a:xfrm>
            <a:off x="1296425" y="2011025"/>
            <a:ext cx="6012300" cy="4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11" name="Google Shape;411;p32"/>
          <p:cNvSpPr/>
          <p:nvPr/>
        </p:nvSpPr>
        <p:spPr>
          <a:xfrm>
            <a:off x="1296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12" name="Google Shape;412;p32"/>
          <p:cNvSpPr/>
          <p:nvPr/>
        </p:nvSpPr>
        <p:spPr>
          <a:xfrm>
            <a:off x="2519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13" name="Google Shape;413;p32"/>
          <p:cNvSpPr/>
          <p:nvPr/>
        </p:nvSpPr>
        <p:spPr>
          <a:xfrm>
            <a:off x="3742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14" name="Google Shape;414;p32"/>
          <p:cNvSpPr/>
          <p:nvPr/>
        </p:nvSpPr>
        <p:spPr>
          <a:xfrm>
            <a:off x="4965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15" name="Google Shape;415;p32"/>
          <p:cNvSpPr/>
          <p:nvPr/>
        </p:nvSpPr>
        <p:spPr>
          <a:xfrm>
            <a:off x="6188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16" name="Google Shape;416;p32"/>
          <p:cNvSpPr txBox="1"/>
          <p:nvPr/>
        </p:nvSpPr>
        <p:spPr>
          <a:xfrm>
            <a:off x="1451575" y="2011025"/>
            <a:ext cx="58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      A        A       C        A        C       A        D       D       E            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417" name="Google Shape;417;p32"/>
          <p:cNvCxnSpPr/>
          <p:nvPr/>
        </p:nvCxnSpPr>
        <p:spPr>
          <a:xfrm>
            <a:off x="3413250" y="1653863"/>
            <a:ext cx="0" cy="27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p32"/>
          <p:cNvCxnSpPr/>
          <p:nvPr/>
        </p:nvCxnSpPr>
        <p:spPr>
          <a:xfrm>
            <a:off x="2543400" y="2694875"/>
            <a:ext cx="17397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9" name="Google Shape;419;p32"/>
          <p:cNvSpPr txBox="1"/>
          <p:nvPr/>
        </p:nvSpPr>
        <p:spPr>
          <a:xfrm>
            <a:off x="2049950" y="3623225"/>
            <a:ext cx="481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Longest palindrome = “AAA” at s.substring(0,3)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3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 - O(n^2)</a:t>
            </a:r>
            <a:endParaRPr/>
          </a:p>
        </p:txBody>
      </p:sp>
      <p:sp>
        <p:nvSpPr>
          <p:cNvPr id="425" name="Google Shape;425;p33"/>
          <p:cNvSpPr/>
          <p:nvPr/>
        </p:nvSpPr>
        <p:spPr>
          <a:xfrm>
            <a:off x="1296425" y="2011025"/>
            <a:ext cx="6012300" cy="4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6" name="Google Shape;426;p33"/>
          <p:cNvSpPr/>
          <p:nvPr/>
        </p:nvSpPr>
        <p:spPr>
          <a:xfrm>
            <a:off x="1296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7" name="Google Shape;427;p33"/>
          <p:cNvSpPr/>
          <p:nvPr/>
        </p:nvSpPr>
        <p:spPr>
          <a:xfrm>
            <a:off x="2519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8" name="Google Shape;428;p33"/>
          <p:cNvSpPr/>
          <p:nvPr/>
        </p:nvSpPr>
        <p:spPr>
          <a:xfrm>
            <a:off x="3742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9" name="Google Shape;429;p33"/>
          <p:cNvSpPr/>
          <p:nvPr/>
        </p:nvSpPr>
        <p:spPr>
          <a:xfrm>
            <a:off x="4965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30" name="Google Shape;430;p33"/>
          <p:cNvSpPr/>
          <p:nvPr/>
        </p:nvSpPr>
        <p:spPr>
          <a:xfrm>
            <a:off x="6188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31" name="Google Shape;431;p33"/>
          <p:cNvSpPr txBox="1"/>
          <p:nvPr/>
        </p:nvSpPr>
        <p:spPr>
          <a:xfrm>
            <a:off x="1451575" y="2011025"/>
            <a:ext cx="58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      A        A       C        A        C       A        D       D       E            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432" name="Google Shape;432;p33"/>
          <p:cNvCxnSpPr/>
          <p:nvPr/>
        </p:nvCxnSpPr>
        <p:spPr>
          <a:xfrm>
            <a:off x="3413250" y="1653863"/>
            <a:ext cx="0" cy="27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" name="Google Shape;433;p33"/>
          <p:cNvCxnSpPr/>
          <p:nvPr/>
        </p:nvCxnSpPr>
        <p:spPr>
          <a:xfrm flipH="1" rot="10800000">
            <a:off x="1907800" y="2686400"/>
            <a:ext cx="3052800" cy="252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33"/>
          <p:cNvSpPr txBox="1"/>
          <p:nvPr/>
        </p:nvSpPr>
        <p:spPr>
          <a:xfrm>
            <a:off x="2049950" y="3623225"/>
            <a:ext cx="481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Longest palindrome = “AAA” at s.substring(0,3)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4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 - O(n^2)</a:t>
            </a:r>
            <a:endParaRPr/>
          </a:p>
        </p:txBody>
      </p:sp>
      <p:sp>
        <p:nvSpPr>
          <p:cNvPr id="440" name="Google Shape;440;p34"/>
          <p:cNvSpPr/>
          <p:nvPr/>
        </p:nvSpPr>
        <p:spPr>
          <a:xfrm>
            <a:off x="1296425" y="2011025"/>
            <a:ext cx="6012300" cy="4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1296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2519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3742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4965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45" name="Google Shape;445;p34"/>
          <p:cNvSpPr/>
          <p:nvPr/>
        </p:nvSpPr>
        <p:spPr>
          <a:xfrm>
            <a:off x="6188425" y="2010950"/>
            <a:ext cx="574200" cy="41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46" name="Google Shape;446;p34"/>
          <p:cNvSpPr txBox="1"/>
          <p:nvPr/>
        </p:nvSpPr>
        <p:spPr>
          <a:xfrm>
            <a:off x="1451575" y="2011025"/>
            <a:ext cx="58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      A        A       C        A        C       A        D       D       E            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447" name="Google Shape;447;p34"/>
          <p:cNvCxnSpPr/>
          <p:nvPr/>
        </p:nvCxnSpPr>
        <p:spPr>
          <a:xfrm>
            <a:off x="4029525" y="1653825"/>
            <a:ext cx="0" cy="27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34"/>
          <p:cNvCxnSpPr/>
          <p:nvPr/>
        </p:nvCxnSpPr>
        <p:spPr>
          <a:xfrm>
            <a:off x="2543400" y="2694875"/>
            <a:ext cx="2994000" cy="8400"/>
          </a:xfrm>
          <a:prstGeom prst="straightConnector1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34"/>
          <p:cNvSpPr txBox="1"/>
          <p:nvPr/>
        </p:nvSpPr>
        <p:spPr>
          <a:xfrm>
            <a:off x="2049950" y="3623225"/>
            <a:ext cx="481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Longest palindrome = “ACACA” at s.substring(2,7)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5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Faster </a:t>
            </a:r>
            <a:r>
              <a:rPr lang="en"/>
              <a:t>Approach</a:t>
            </a:r>
            <a:endParaRPr/>
          </a:p>
        </p:txBody>
      </p:sp>
      <p:sp>
        <p:nvSpPr>
          <p:cNvPr id="455" name="Google Shape;455;p35"/>
          <p:cNvSpPr txBox="1"/>
          <p:nvPr>
            <p:ph idx="1" type="body"/>
          </p:nvPr>
        </p:nvSpPr>
        <p:spPr>
          <a:xfrm>
            <a:off x="856059" y="1654840"/>
            <a:ext cx="7429500" cy="265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To make it faster, we need to reuse information as we go down the string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We can take advantage of the symmetric quality of palindromes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6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Manacher’s Algorithm</a:t>
            </a:r>
            <a:endParaRPr/>
          </a:p>
        </p:txBody>
      </p:sp>
      <p:sp>
        <p:nvSpPr>
          <p:cNvPr id="461" name="Google Shape;461;p36"/>
          <p:cNvSpPr txBox="1"/>
          <p:nvPr/>
        </p:nvSpPr>
        <p:spPr>
          <a:xfrm>
            <a:off x="2162088" y="3128500"/>
            <a:ext cx="4817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Keep track of the longest palindrome radius centered at each index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Ex: ABCBA = radius of 2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462" name="Google Shape;462;p36"/>
          <p:cNvGraphicFramePr/>
          <p:nvPr/>
        </p:nvGraphicFramePr>
        <p:xfrm>
          <a:off x="841463" y="18896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1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3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…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3" name="Google Shape;463;p36"/>
          <p:cNvSpPr txBox="1"/>
          <p:nvPr/>
        </p:nvSpPr>
        <p:spPr>
          <a:xfrm>
            <a:off x="188466" y="1994559"/>
            <a:ext cx="6360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p[n]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7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Manacher’s Algorithm</a:t>
            </a:r>
            <a:endParaRPr/>
          </a:p>
        </p:txBody>
      </p:sp>
      <p:graphicFrame>
        <p:nvGraphicFramePr>
          <p:cNvPr id="469" name="Google Shape;469;p37"/>
          <p:cNvGraphicFramePr/>
          <p:nvPr/>
        </p:nvGraphicFramePr>
        <p:xfrm>
          <a:off x="842676" y="2357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0" name="Google Shape;470;p37"/>
          <p:cNvSpPr txBox="1"/>
          <p:nvPr/>
        </p:nvSpPr>
        <p:spPr>
          <a:xfrm>
            <a:off x="1782578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71" name="Google Shape;471;p37"/>
          <p:cNvSpPr txBox="1"/>
          <p:nvPr/>
        </p:nvSpPr>
        <p:spPr>
          <a:xfrm>
            <a:off x="6104728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72" name="Google Shape;472;p37"/>
          <p:cNvSpPr txBox="1"/>
          <p:nvPr/>
        </p:nvSpPr>
        <p:spPr>
          <a:xfrm>
            <a:off x="3901329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473" name="Google Shape;473;p37"/>
          <p:cNvGraphicFramePr/>
          <p:nvPr/>
        </p:nvGraphicFramePr>
        <p:xfrm>
          <a:off x="841463" y="1528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1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3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…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4" name="Google Shape;474;p37"/>
          <p:cNvSpPr txBox="1"/>
          <p:nvPr/>
        </p:nvSpPr>
        <p:spPr>
          <a:xfrm>
            <a:off x="1709240" y="4088000"/>
            <a:ext cx="572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Keep track of the right-most reaching palindrome so far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75" name="Google Shape;475;p37"/>
          <p:cNvSpPr txBox="1"/>
          <p:nvPr/>
        </p:nvSpPr>
        <p:spPr>
          <a:xfrm>
            <a:off x="188466" y="1633350"/>
            <a:ext cx="6360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p[n]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476" name="Google Shape;476;p37"/>
          <p:cNvGraphicFramePr/>
          <p:nvPr/>
        </p:nvGraphicFramePr>
        <p:xfrm>
          <a:off x="844662" y="1052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4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8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Manacher’s Algorithm</a:t>
            </a:r>
            <a:endParaRPr/>
          </a:p>
        </p:txBody>
      </p:sp>
      <p:graphicFrame>
        <p:nvGraphicFramePr>
          <p:cNvPr id="482" name="Google Shape;482;p38"/>
          <p:cNvGraphicFramePr/>
          <p:nvPr/>
        </p:nvGraphicFramePr>
        <p:xfrm>
          <a:off x="842676" y="2357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3" name="Google Shape;483;p38"/>
          <p:cNvSpPr txBox="1"/>
          <p:nvPr/>
        </p:nvSpPr>
        <p:spPr>
          <a:xfrm>
            <a:off x="1782578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84" name="Google Shape;484;p38"/>
          <p:cNvSpPr txBox="1"/>
          <p:nvPr/>
        </p:nvSpPr>
        <p:spPr>
          <a:xfrm>
            <a:off x="6104728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85" name="Google Shape;485;p38"/>
          <p:cNvSpPr txBox="1"/>
          <p:nvPr/>
        </p:nvSpPr>
        <p:spPr>
          <a:xfrm>
            <a:off x="3901329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486" name="Google Shape;486;p38"/>
          <p:cNvGraphicFramePr/>
          <p:nvPr/>
        </p:nvGraphicFramePr>
        <p:xfrm>
          <a:off x="841463" y="1528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1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3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?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7" name="Google Shape;487;p38"/>
          <p:cNvSpPr txBox="1"/>
          <p:nvPr/>
        </p:nvSpPr>
        <p:spPr>
          <a:xfrm>
            <a:off x="188466" y="1633350"/>
            <a:ext cx="6360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p[n]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488" name="Google Shape;488;p38"/>
          <p:cNvCxnSpPr/>
          <p:nvPr/>
        </p:nvCxnSpPr>
        <p:spPr>
          <a:xfrm rot="10800000">
            <a:off x="2641616" y="3518040"/>
            <a:ext cx="0" cy="76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89" name="Google Shape;489;p38"/>
          <p:cNvCxnSpPr/>
          <p:nvPr/>
        </p:nvCxnSpPr>
        <p:spPr>
          <a:xfrm rot="10800000">
            <a:off x="5567463" y="3518052"/>
            <a:ext cx="0" cy="76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0" name="Google Shape;490;p38"/>
          <p:cNvSpPr txBox="1"/>
          <p:nvPr/>
        </p:nvSpPr>
        <p:spPr>
          <a:xfrm>
            <a:off x="2177801" y="4282825"/>
            <a:ext cx="101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Mirrored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491" name="Google Shape;491;p38"/>
          <p:cNvGraphicFramePr/>
          <p:nvPr/>
        </p:nvGraphicFramePr>
        <p:xfrm>
          <a:off x="844662" y="1052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4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9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Manacher’s Algorithm</a:t>
            </a:r>
            <a:endParaRPr/>
          </a:p>
        </p:txBody>
      </p:sp>
      <p:sp>
        <p:nvSpPr>
          <p:cNvPr id="497" name="Google Shape;497;p39"/>
          <p:cNvSpPr txBox="1"/>
          <p:nvPr/>
        </p:nvSpPr>
        <p:spPr>
          <a:xfrm>
            <a:off x="1810348" y="4353489"/>
            <a:ext cx="552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We already know index 2 has a radius of 1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498" name="Google Shape;498;p39"/>
          <p:cNvGraphicFramePr/>
          <p:nvPr/>
        </p:nvGraphicFramePr>
        <p:xfrm>
          <a:off x="842676" y="2357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9" name="Google Shape;499;p39"/>
          <p:cNvSpPr txBox="1"/>
          <p:nvPr/>
        </p:nvSpPr>
        <p:spPr>
          <a:xfrm>
            <a:off x="1782578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0" name="Google Shape;500;p39"/>
          <p:cNvSpPr txBox="1"/>
          <p:nvPr/>
        </p:nvSpPr>
        <p:spPr>
          <a:xfrm>
            <a:off x="6104728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1" name="Google Shape;501;p39"/>
          <p:cNvSpPr txBox="1"/>
          <p:nvPr/>
        </p:nvSpPr>
        <p:spPr>
          <a:xfrm>
            <a:off x="3901329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502" name="Google Shape;502;p39"/>
          <p:cNvGraphicFramePr/>
          <p:nvPr/>
        </p:nvGraphicFramePr>
        <p:xfrm>
          <a:off x="841463" y="1528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1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3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?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3" name="Google Shape;503;p39"/>
          <p:cNvSpPr txBox="1"/>
          <p:nvPr/>
        </p:nvSpPr>
        <p:spPr>
          <a:xfrm>
            <a:off x="188466" y="1633350"/>
            <a:ext cx="6360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p[n]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04" name="Google Shape;504;p39"/>
          <p:cNvCxnSpPr/>
          <p:nvPr/>
        </p:nvCxnSpPr>
        <p:spPr>
          <a:xfrm rot="10800000">
            <a:off x="2641616" y="3518040"/>
            <a:ext cx="0" cy="76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05" name="Google Shape;505;p39"/>
          <p:cNvCxnSpPr/>
          <p:nvPr/>
        </p:nvCxnSpPr>
        <p:spPr>
          <a:xfrm rot="10800000">
            <a:off x="5567463" y="3518052"/>
            <a:ext cx="0" cy="76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506" name="Google Shape;506;p39"/>
          <p:cNvGraphicFramePr/>
          <p:nvPr/>
        </p:nvGraphicFramePr>
        <p:xfrm>
          <a:off x="844662" y="1052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4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0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Manacher’s Algorithm</a:t>
            </a:r>
            <a:endParaRPr/>
          </a:p>
        </p:txBody>
      </p:sp>
      <p:sp>
        <p:nvSpPr>
          <p:cNvPr id="512" name="Google Shape;512;p40"/>
          <p:cNvSpPr txBox="1"/>
          <p:nvPr/>
        </p:nvSpPr>
        <p:spPr>
          <a:xfrm>
            <a:off x="1810348" y="4361341"/>
            <a:ext cx="552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That also means index 7 is also the same value!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513" name="Google Shape;513;p40"/>
          <p:cNvGraphicFramePr/>
          <p:nvPr/>
        </p:nvGraphicFramePr>
        <p:xfrm>
          <a:off x="842676" y="2357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4" name="Google Shape;514;p40"/>
          <p:cNvSpPr txBox="1"/>
          <p:nvPr/>
        </p:nvSpPr>
        <p:spPr>
          <a:xfrm>
            <a:off x="1782578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5" name="Google Shape;515;p40"/>
          <p:cNvSpPr txBox="1"/>
          <p:nvPr/>
        </p:nvSpPr>
        <p:spPr>
          <a:xfrm>
            <a:off x="6104728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6" name="Google Shape;516;p40"/>
          <p:cNvSpPr txBox="1"/>
          <p:nvPr/>
        </p:nvSpPr>
        <p:spPr>
          <a:xfrm>
            <a:off x="3901329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517" name="Google Shape;517;p40"/>
          <p:cNvGraphicFramePr/>
          <p:nvPr/>
        </p:nvGraphicFramePr>
        <p:xfrm>
          <a:off x="841463" y="1528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1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3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1+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8" name="Google Shape;518;p40"/>
          <p:cNvSpPr txBox="1"/>
          <p:nvPr/>
        </p:nvSpPr>
        <p:spPr>
          <a:xfrm>
            <a:off x="188466" y="1633350"/>
            <a:ext cx="6360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p[n]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19" name="Google Shape;519;p40"/>
          <p:cNvCxnSpPr/>
          <p:nvPr/>
        </p:nvCxnSpPr>
        <p:spPr>
          <a:xfrm rot="10800000">
            <a:off x="2641616" y="3518040"/>
            <a:ext cx="0" cy="76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40"/>
          <p:cNvCxnSpPr/>
          <p:nvPr/>
        </p:nvCxnSpPr>
        <p:spPr>
          <a:xfrm rot="10800000">
            <a:off x="5567463" y="3518052"/>
            <a:ext cx="0" cy="76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521" name="Google Shape;521;p40"/>
          <p:cNvGraphicFramePr/>
          <p:nvPr/>
        </p:nvGraphicFramePr>
        <p:xfrm>
          <a:off x="844662" y="1052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4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1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Manacher’s Algorithm</a:t>
            </a:r>
            <a:endParaRPr/>
          </a:p>
        </p:txBody>
      </p:sp>
      <p:sp>
        <p:nvSpPr>
          <p:cNvPr id="527" name="Google Shape;527;p41"/>
          <p:cNvSpPr txBox="1"/>
          <p:nvPr/>
        </p:nvSpPr>
        <p:spPr>
          <a:xfrm>
            <a:off x="1810348" y="4361341"/>
            <a:ext cx="552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Expand further with equality checks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528" name="Google Shape;528;p41"/>
          <p:cNvGraphicFramePr/>
          <p:nvPr/>
        </p:nvGraphicFramePr>
        <p:xfrm>
          <a:off x="842676" y="2357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9" name="Google Shape;529;p41"/>
          <p:cNvSpPr txBox="1"/>
          <p:nvPr/>
        </p:nvSpPr>
        <p:spPr>
          <a:xfrm>
            <a:off x="1782578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0" name="Google Shape;530;p41"/>
          <p:cNvSpPr txBox="1"/>
          <p:nvPr/>
        </p:nvSpPr>
        <p:spPr>
          <a:xfrm>
            <a:off x="6104728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1" name="Google Shape;531;p41"/>
          <p:cNvSpPr txBox="1"/>
          <p:nvPr/>
        </p:nvSpPr>
        <p:spPr>
          <a:xfrm>
            <a:off x="3901329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532" name="Google Shape;532;p41"/>
          <p:cNvGraphicFramePr/>
          <p:nvPr/>
        </p:nvGraphicFramePr>
        <p:xfrm>
          <a:off x="841463" y="1528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1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3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2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3" name="Google Shape;533;p41"/>
          <p:cNvSpPr txBox="1"/>
          <p:nvPr/>
        </p:nvSpPr>
        <p:spPr>
          <a:xfrm>
            <a:off x="188466" y="1633350"/>
            <a:ext cx="6360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p[n]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34" name="Google Shape;534;p41"/>
          <p:cNvCxnSpPr/>
          <p:nvPr/>
        </p:nvCxnSpPr>
        <p:spPr>
          <a:xfrm rot="10800000">
            <a:off x="2641616" y="3518040"/>
            <a:ext cx="0" cy="76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35" name="Google Shape;535;p41"/>
          <p:cNvCxnSpPr/>
          <p:nvPr/>
        </p:nvCxnSpPr>
        <p:spPr>
          <a:xfrm rot="10800000">
            <a:off x="5567463" y="3518052"/>
            <a:ext cx="0" cy="76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536" name="Google Shape;536;p41"/>
          <p:cNvGraphicFramePr/>
          <p:nvPr/>
        </p:nvGraphicFramePr>
        <p:xfrm>
          <a:off x="844662" y="1052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4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2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Manacher’s Algorithm</a:t>
            </a:r>
            <a:endParaRPr/>
          </a:p>
        </p:txBody>
      </p:sp>
      <p:sp>
        <p:nvSpPr>
          <p:cNvPr id="542" name="Google Shape;542;p42"/>
          <p:cNvSpPr txBox="1"/>
          <p:nvPr/>
        </p:nvSpPr>
        <p:spPr>
          <a:xfrm>
            <a:off x="1810348" y="4047234"/>
            <a:ext cx="552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Update L,C,R and move on to next index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543" name="Google Shape;543;p42"/>
          <p:cNvGraphicFramePr/>
          <p:nvPr/>
        </p:nvGraphicFramePr>
        <p:xfrm>
          <a:off x="842676" y="2357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4" name="Google Shape;544;p42"/>
          <p:cNvSpPr txBox="1"/>
          <p:nvPr/>
        </p:nvSpPr>
        <p:spPr>
          <a:xfrm>
            <a:off x="3910653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5" name="Google Shape;545;p42"/>
          <p:cNvSpPr txBox="1"/>
          <p:nvPr/>
        </p:nvSpPr>
        <p:spPr>
          <a:xfrm>
            <a:off x="6763062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6" name="Google Shape;546;p42"/>
          <p:cNvSpPr txBox="1"/>
          <p:nvPr/>
        </p:nvSpPr>
        <p:spPr>
          <a:xfrm>
            <a:off x="5322663" y="3222792"/>
            <a:ext cx="7773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</a:t>
            </a:r>
            <a:endParaRPr sz="3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547" name="Google Shape;547;p42"/>
          <p:cNvGraphicFramePr/>
          <p:nvPr/>
        </p:nvGraphicFramePr>
        <p:xfrm>
          <a:off x="841463" y="1528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1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3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0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lt1"/>
                          </a:solidFill>
                        </a:rPr>
                        <a:t>2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8" name="Google Shape;548;p42"/>
          <p:cNvSpPr txBox="1"/>
          <p:nvPr/>
        </p:nvSpPr>
        <p:spPr>
          <a:xfrm>
            <a:off x="188466" y="1633350"/>
            <a:ext cx="6360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p[n]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549" name="Google Shape;549;p42"/>
          <p:cNvGraphicFramePr/>
          <p:nvPr/>
        </p:nvGraphicFramePr>
        <p:xfrm>
          <a:off x="844662" y="1052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  <a:gridCol w="725175"/>
              </a:tblGrid>
              <a:tr h="67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4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3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Manacher’s Algorithm - Preprocessing</a:t>
            </a:r>
            <a:endParaRPr/>
          </a:p>
        </p:txBody>
      </p:sp>
      <p:sp>
        <p:nvSpPr>
          <p:cNvPr id="555" name="Google Shape;555;p43"/>
          <p:cNvSpPr txBox="1"/>
          <p:nvPr>
            <p:ph idx="1" type="body"/>
          </p:nvPr>
        </p:nvSpPr>
        <p:spPr>
          <a:xfrm>
            <a:off x="856059" y="1654840"/>
            <a:ext cx="7429500" cy="265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How can we handle both even and odd length strings the same way?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How can we avoid bounds checking every time we try to expand a palindrome?</a:t>
            </a:r>
            <a:endParaRPr/>
          </a:p>
        </p:txBody>
      </p:sp>
      <p:sp>
        <p:nvSpPr>
          <p:cNvPr id="556" name="Google Shape;556;p43"/>
          <p:cNvSpPr txBox="1"/>
          <p:nvPr/>
        </p:nvSpPr>
        <p:spPr>
          <a:xfrm>
            <a:off x="2163288" y="3159900"/>
            <a:ext cx="481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Preprocess the string!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4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Manacher’s Algorithm - Preprocessing</a:t>
            </a:r>
            <a:endParaRPr/>
          </a:p>
        </p:txBody>
      </p:sp>
      <p:sp>
        <p:nvSpPr>
          <p:cNvPr id="562" name="Google Shape;562;p44"/>
          <p:cNvSpPr txBox="1"/>
          <p:nvPr>
            <p:ph idx="1" type="body"/>
          </p:nvPr>
        </p:nvSpPr>
        <p:spPr>
          <a:xfrm>
            <a:off x="856059" y="1654840"/>
            <a:ext cx="7429500" cy="265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Insert @ in front and $ in the end of the string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You don’t have to bounds check anymore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Insert # in between each character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All strings are now odd-length</a:t>
            </a:r>
            <a:endParaRPr/>
          </a:p>
        </p:txBody>
      </p:sp>
      <p:sp>
        <p:nvSpPr>
          <p:cNvPr id="563" name="Google Shape;563;p44"/>
          <p:cNvSpPr txBox="1"/>
          <p:nvPr/>
        </p:nvSpPr>
        <p:spPr>
          <a:xfrm>
            <a:off x="2163288" y="3269838"/>
            <a:ext cx="481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ABABA -&gt; @#A#B#A#B#R#$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ABBA -&gt; @#A#B#B#A#$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5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Walkthrough</a:t>
            </a:r>
            <a:endParaRPr/>
          </a:p>
        </p:txBody>
      </p:sp>
      <p:graphicFrame>
        <p:nvGraphicFramePr>
          <p:cNvPr id="569" name="Google Shape;569;p45"/>
          <p:cNvGraphicFramePr/>
          <p:nvPr/>
        </p:nvGraphicFramePr>
        <p:xfrm>
          <a:off x="952450" y="164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</a:tblGrid>
              <a:tr h="47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2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3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4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5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6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7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8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9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10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0" name="Google Shape;570;p45"/>
          <p:cNvGraphicFramePr/>
          <p:nvPr/>
        </p:nvGraphicFramePr>
        <p:xfrm>
          <a:off x="951250" y="237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</a:tblGrid>
              <a:tr h="56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@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#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a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#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b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#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b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#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a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#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$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1" name="Google Shape;571;p45"/>
          <p:cNvGraphicFramePr/>
          <p:nvPr/>
        </p:nvGraphicFramePr>
        <p:xfrm>
          <a:off x="951250" y="370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{FB0417DA-E05D-4A06-BD93-DA029B5533FF}</a:tableStyleId>
              </a:tblPr>
              <a:tblGrid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</a:tblGrid>
              <a:tr h="47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2" name="Google Shape;572;p45"/>
          <p:cNvSpPr txBox="1"/>
          <p:nvPr/>
        </p:nvSpPr>
        <p:spPr>
          <a:xfrm>
            <a:off x="951250" y="4175925"/>
            <a:ext cx="2422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palindrome radii array</a:t>
            </a:r>
            <a:endParaRPr sz="15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6"/>
          <p:cNvSpPr txBox="1"/>
          <p:nvPr>
            <p:ph type="title"/>
          </p:nvPr>
        </p:nvSpPr>
        <p:spPr>
          <a:xfrm>
            <a:off x="856060" y="463889"/>
            <a:ext cx="7429500" cy="110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Time Complexity</a:t>
            </a:r>
            <a:endParaRPr/>
          </a:p>
        </p:txBody>
      </p:sp>
      <p:sp>
        <p:nvSpPr>
          <p:cNvPr id="578" name="Google Shape;578;p46"/>
          <p:cNvSpPr txBox="1"/>
          <p:nvPr>
            <p:ph idx="1" type="body"/>
          </p:nvPr>
        </p:nvSpPr>
        <p:spPr>
          <a:xfrm>
            <a:off x="856054" y="1687125"/>
            <a:ext cx="3881700" cy="265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For Loop Cost - N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If Statements - O(1)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While Loop 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looks like it </a:t>
            </a:r>
            <a:r>
              <a:rPr i="1" lang="en"/>
              <a:t>could</a:t>
            </a:r>
            <a:r>
              <a:rPr lang="en"/>
              <a:t> be N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BUT everytime this does something meaningful, it extends past the known right boundary r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Time Complexity - O(n)</a:t>
            </a:r>
            <a:endParaRPr/>
          </a:p>
        </p:txBody>
      </p:sp>
      <p:pic>
        <p:nvPicPr>
          <p:cNvPr id="579" name="Google Shape;579;p46" title="Screenshot 2026-04-19 at 2.55.3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2425" y="1242850"/>
            <a:ext cx="3679600" cy="354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7"/>
          <p:cNvSpPr txBox="1"/>
          <p:nvPr>
            <p:ph type="ctrTitle"/>
          </p:nvPr>
        </p:nvSpPr>
        <p:spPr>
          <a:xfrm>
            <a:off x="1275150" y="2080175"/>
            <a:ext cx="6593700" cy="6375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Questions?</a:t>
            </a:r>
            <a:endParaRPr sz="4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